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Helvetica World Bold" panose="020B0604020202020204" charset="-128"/>
      <p:bold r:id="rId16"/>
    </p:embeddedFont>
    <p:embeddedFont>
      <p:font typeface="Calibri" panose="020F0502020204030204" pitchFamily="34" charset="0"/>
      <p:regular r:id="rId17"/>
      <p:bold r:id="rId18"/>
      <p:italic r:id="rId19"/>
      <p:boldItalic r:id="rId20"/>
    </p:embeddedFont>
    <p:embeddedFont>
      <p:font typeface="Helvetica World" panose="020B0604020202020204" charset="-128"/>
      <p:regular r:id="rId21"/>
    </p:embeddedFont>
    <p:embeddedFont>
      <p:font typeface="Georgia Pro Condense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grpSp>
        <p:nvGrpSpPr>
          <p:cNvPr id="2" name="Group 2"/>
          <p:cNvGrpSpPr/>
          <p:nvPr/>
        </p:nvGrpSpPr>
        <p:grpSpPr>
          <a:xfrm>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192A56"/>
            </a:solidFill>
            <a:ln w="12700">
              <a:solidFill>
                <a:srgbClr val="000000"/>
              </a:solidFill>
            </a:ln>
          </p:spPr>
        </p:sp>
      </p:grpSp>
      <p:grpSp>
        <p:nvGrpSpPr>
          <p:cNvPr id="4" name="Group 4"/>
          <p:cNvGrpSpPr/>
          <p:nvPr/>
        </p:nvGrpSpPr>
        <p:grpSpPr>
          <a:xfrm>
            <a:off x="11868150"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304800" y="7277100"/>
            <a:ext cx="9002395" cy="1266825"/>
          </a:xfrm>
          <a:prstGeom prst="rect">
            <a:avLst/>
          </a:prstGeom>
        </p:spPr>
        <p:txBody>
          <a:bodyPr wrap="square" lIns="0" tIns="0" rIns="0" bIns="0" rtlCol="0" anchor="t">
            <a:spAutoFit/>
          </a:bodyPr>
          <a:lstStyle/>
          <a:p>
            <a:pPr marL="0" lvl="0" indent="0" algn="ctr">
              <a:lnSpc>
                <a:spcPts val="4940"/>
              </a:lnSpc>
            </a:pPr>
            <a:r>
              <a:rPr lang="en-US" sz="3800" u="none" strike="noStrike" spc="-57">
                <a:solidFill>
                  <a:srgbClr val="F5F6FA"/>
                </a:solidFill>
                <a:latin typeface="Times New Roman" panose="02020603050405020304" charset="0"/>
                <a:ea typeface="Helvetica World" panose="020B0500040000020004" charset="-122"/>
                <a:cs typeface="Times New Roman" panose="02020603050405020304" charset="0"/>
                <a:sym typeface="Helvetica World" panose="020B0500040000020004" charset="-122"/>
              </a:rPr>
              <a:t>Presented by [Syed Raahim Ali (CT-25191 &amp; Faizan Khan (CT-25195)]</a:t>
            </a:r>
          </a:p>
        </p:txBody>
      </p:sp>
      <p:sp>
        <p:nvSpPr>
          <p:cNvPr id="7" name="TextBox 7"/>
          <p:cNvSpPr txBox="1"/>
          <p:nvPr/>
        </p:nvSpPr>
        <p:spPr>
          <a:xfrm>
            <a:off x="675380" y="975068"/>
            <a:ext cx="9754495" cy="5790084"/>
          </a:xfrm>
          <a:prstGeom prst="rect">
            <a:avLst/>
          </a:prstGeom>
        </p:spPr>
        <p:txBody>
          <a:bodyPr lIns="0" tIns="0" rIns="0" bIns="0" rtlCol="0" anchor="t">
            <a:spAutoFit/>
          </a:bodyPr>
          <a:lstStyle/>
          <a:p>
            <a:pPr marL="0" lvl="0" indent="0" algn="l">
              <a:lnSpc>
                <a:spcPts val="14955"/>
              </a:lnSpc>
            </a:pPr>
            <a:r>
              <a:rPr lang="en-US" sz="14955" u="none" strike="noStrike" spc="-523">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Airplane Management System in C</a:t>
            </a:r>
          </a:p>
        </p:txBody>
      </p:sp>
      <p:sp>
        <p:nvSpPr>
          <p:cNvPr id="8" name="Freeform 8"/>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2</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spcBef>
                  <a:spcPct val="0"/>
                </a:spcBef>
              </a:pPr>
              <a:endParaRPr/>
            </a:p>
          </p:txBody>
        </p:sp>
      </p:grpSp>
      <p:grpSp>
        <p:nvGrpSpPr>
          <p:cNvPr id="6" name="Group 6"/>
          <p:cNvGrpSpPr/>
          <p:nvPr/>
        </p:nvGrpSpPr>
        <p:grpSpPr>
          <a:xfrm>
            <a:off x="1800225" y="1562100"/>
            <a:ext cx="12944475" cy="3619500"/>
            <a:chOff x="0" y="0"/>
            <a:chExt cx="17259300" cy="48260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Introduction to Project</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Overview of Flight Management System</a:t>
              </a:r>
            </a:p>
          </p:txBody>
        </p:sp>
        <p:sp>
          <p:nvSpPr>
            <p:cNvPr id="9" name="TextBox 9"/>
            <p:cNvSpPr txBox="1"/>
            <p:nvPr/>
          </p:nvSpPr>
          <p:spPr>
            <a:xfrm>
              <a:off x="0" y="3059641"/>
              <a:ext cx="13512134" cy="1766359"/>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Airplane Management System project</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aims to develop a simple flight management solution in C, utilizing arrays and a menu-driven interface to effectively manage flight data for introductory programming.</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sp>
        <p:nvSpPr>
          <p:cNvPr id="2" name="TextBox 2"/>
          <p:cNvSpPr txBox="1"/>
          <p:nvPr/>
        </p:nvSpPr>
        <p:spPr>
          <a:xfrm>
            <a:off x="666750" y="5599430"/>
            <a:ext cx="6886575" cy="3927475"/>
          </a:xfrm>
          <a:prstGeom prst="rect">
            <a:avLst/>
          </a:prstGeom>
        </p:spPr>
        <p:txBody>
          <a:bodyPr lIns="0" tIns="0" rIns="0" bIns="0" rtlCol="0" anchor="t">
            <a:spAutoFit/>
          </a:bodyPr>
          <a:lstStyle/>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Flight numbers stored in an integer array format</a:t>
            </a:r>
          </a:p>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Destination codes mapped to specific cities for clarity</a:t>
            </a:r>
          </a:p>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Departure times represented in a simple integer format</a:t>
            </a:r>
          </a:p>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MAX flights constant defines the system's capacity limit</a:t>
            </a:r>
          </a:p>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Count variable tracks current number of flights stored</a:t>
            </a:r>
          </a:p>
        </p:txBody>
      </p:sp>
      <p:sp>
        <p:nvSpPr>
          <p:cNvPr id="3" name="TextBox 3"/>
          <p:cNvSpPr txBox="1"/>
          <p:nvPr/>
        </p:nvSpPr>
        <p:spPr>
          <a:xfrm>
            <a:off x="666750" y="581025"/>
            <a:ext cx="6886575" cy="2613025"/>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Data Storage Using Arrays</a:t>
            </a:r>
          </a:p>
        </p:txBody>
      </p:sp>
      <p:grpSp>
        <p:nvGrpSpPr>
          <p:cNvPr id="4" name="Group 4"/>
          <p:cNvGrpSpPr/>
          <p:nvPr/>
        </p:nvGrpSpPr>
        <p:grpSpPr>
          <a:xfrm>
            <a:off x="8991600" y="0"/>
            <a:ext cx="9296400" cy="10287000"/>
            <a:chOff x="0" y="0"/>
            <a:chExt cx="1220873" cy="1350966"/>
          </a:xfrm>
        </p:grpSpPr>
        <p:sp>
          <p:nvSpPr>
            <p:cNvPr id="5" name="Freeform 5"/>
            <p:cNvSpPr/>
            <p:nvPr/>
          </p:nvSpPr>
          <p:spPr>
            <a:xfrm>
              <a:off x="0" y="0"/>
              <a:ext cx="1220873" cy="1350966"/>
            </a:xfrm>
            <a:custGeom>
              <a:avLst/>
              <a:gdLst/>
              <a:ahLst/>
              <a:cxnLst/>
              <a:rect l="l" t="t" r="r" b="b"/>
              <a:pathLst>
                <a:path w="1220873" h="1350966">
                  <a:moveTo>
                    <a:pt x="0" y="0"/>
                  </a:moveTo>
                  <a:lnTo>
                    <a:pt x="1220873" y="0"/>
                  </a:lnTo>
                  <a:lnTo>
                    <a:pt x="1220873" y="1350966"/>
                  </a:lnTo>
                  <a:lnTo>
                    <a:pt x="0" y="1350966"/>
                  </a:lnTo>
                  <a:close/>
                </a:path>
              </a:pathLst>
            </a:custGeom>
            <a:blipFill>
              <a:blip r:embed="rId2"/>
              <a:stretch>
                <a:fillRect t="-66" b="-66"/>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4</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pPr>
              <a:endParaRPr/>
            </a:p>
          </p:txBody>
        </p:sp>
      </p:grpSp>
      <p:grpSp>
        <p:nvGrpSpPr>
          <p:cNvPr id="6" name="Group 6"/>
          <p:cNvGrpSpPr/>
          <p:nvPr/>
        </p:nvGrpSpPr>
        <p:grpSpPr>
          <a:xfrm>
            <a:off x="1800225" y="1562100"/>
            <a:ext cx="12944475" cy="3381459"/>
            <a:chOff x="0" y="0"/>
            <a:chExt cx="17259300" cy="4508612"/>
          </a:xfrm>
        </p:grpSpPr>
        <p:sp>
          <p:nvSpPr>
            <p:cNvPr id="7" name="TextBox 7"/>
            <p:cNvSpPr txBox="1"/>
            <p:nvPr/>
          </p:nvSpPr>
          <p:spPr>
            <a:xfrm>
              <a:off x="0" y="-85725"/>
              <a:ext cx="17259300" cy="34554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Destination Codes and Time Representation</a:t>
              </a:r>
            </a:p>
          </p:txBody>
        </p:sp>
        <p:sp>
          <p:nvSpPr>
            <p:cNvPr id="8" name="TextBox 8"/>
            <p:cNvSpPr txBox="1"/>
            <p:nvPr/>
          </p:nvSpPr>
          <p:spPr>
            <a:xfrm>
              <a:off x="0" y="39402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Understanding Flight Destinations and Scheduling</a:t>
              </a:r>
            </a:p>
          </p:txBody>
        </p:sp>
      </p:grpSp>
      <p:sp>
        <p:nvSpPr>
          <p:cNvPr id="9" name="Freeform 9"/>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11942"/>
            </a:solidFill>
            <a:ln cap="rnd">
              <a:noFill/>
              <a:prstDash val="solid"/>
              <a:round/>
            </a:ln>
          </p:spPr>
        </p:sp>
        <p:sp>
          <p:nvSpPr>
            <p:cNvPr id="4" name="TextBox 4"/>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pPr>
              <a:endParaRPr/>
            </a:p>
          </p:txBody>
        </p:sp>
      </p:grpSp>
      <p:grpSp>
        <p:nvGrpSpPr>
          <p:cNvPr id="5" name="Group 5"/>
          <p:cNvGrpSpPr/>
          <p:nvPr/>
        </p:nvGrpSpPr>
        <p:grpSpPr>
          <a:xfrm>
            <a:off x="2105025" y="1562100"/>
            <a:ext cx="9763125" cy="4927600"/>
            <a:chOff x="0" y="0"/>
            <a:chExt cx="13017500" cy="6570133"/>
          </a:xfrm>
        </p:grpSpPr>
        <p:sp>
          <p:nvSpPr>
            <p:cNvPr id="6" name="TextBox 6"/>
            <p:cNvSpPr txBox="1"/>
            <p:nvPr/>
          </p:nvSpPr>
          <p:spPr>
            <a:xfrm>
              <a:off x="0" y="1196975"/>
              <a:ext cx="13017500" cy="5373158"/>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main menu loop is a crucial part of the Airplane Management System, enabling user interaction through a menu-driven interface. The loop utilizes a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while structure</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to continuously present options until the user chooses to exit. Input validation is essential; it ensures that user entries are both valid and safe. By using scanf for input and printf for output, the program engages users effectively. Moreover, implementing error handling provides feedback for invalid inputs, enhancing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user experience</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and stability of the system, fostering a smooth interaction throughout the application.</a:t>
              </a:r>
            </a:p>
          </p:txBody>
        </p:sp>
        <p:sp>
          <p:nvSpPr>
            <p:cNvPr id="7" name="TextBox 7"/>
            <p:cNvSpPr txBox="1"/>
            <p:nvPr/>
          </p:nvSpPr>
          <p:spPr>
            <a:xfrm>
              <a:off x="0" y="-9525"/>
              <a:ext cx="130175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Main Menu Loop and User Interaction</a:t>
              </a:r>
            </a:p>
          </p:txBody>
        </p:sp>
      </p:grpSp>
      <p:sp>
        <p:nvSpPr>
          <p:cNvPr id="8" name="Freeform 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6</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Adding Flights</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Key Functionalities of the System</a:t>
              </a:r>
            </a:p>
          </p:txBody>
        </p:sp>
      </p:grpSp>
      <p:grpSp>
        <p:nvGrpSpPr>
          <p:cNvPr id="9" name="Group 9"/>
          <p:cNvGrpSpPr/>
          <p:nvPr/>
        </p:nvGrpSpPr>
        <p:grpSpPr>
          <a:xfrm>
            <a:off x="1800225" y="5143500"/>
            <a:ext cx="4308497" cy="2578100"/>
            <a:chOff x="0" y="0"/>
            <a:chExt cx="5744662" cy="3437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Capacity Check</a:t>
              </a:r>
            </a:p>
          </p:txBody>
        </p:sp>
        <p:sp>
          <p:nvSpPr>
            <p:cNvPr id="11" name="TextBox 11"/>
            <p:cNvSpPr txBox="1"/>
            <p:nvPr/>
          </p:nvSpPr>
          <p:spPr>
            <a:xfrm>
              <a:off x="0" y="1060450"/>
              <a:ext cx="5744662" cy="2377017"/>
            </a:xfrm>
            <a:prstGeom prst="rect">
              <a:avLst/>
            </a:prstGeom>
          </p:spPr>
          <p:txBody>
            <a:bodyPr lIns="0" tIns="0" rIns="0" bIns="0" rtlCol="0" anchor="t">
              <a:spAutoFit/>
            </a:bodyPr>
            <a:lstStyle/>
            <a:p>
              <a:pPr marL="0" lvl="0" indent="0" algn="l">
                <a:lnSpc>
                  <a:spcPts val="2800"/>
                </a:lnSpc>
              </a:pP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Before adding a flight, the system checks the </a:t>
              </a:r>
              <a:r>
                <a:rPr lang="en-US" sz="2000" b="1" u="none" strike="noStrike" spc="-30">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maximum capacity</a:t>
              </a: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to ensure no more than the allowed number of flights are entered, maintaining data integrity.</a:t>
              </a:r>
            </a:p>
          </p:txBody>
        </p:sp>
      </p:grpSp>
      <p:grpSp>
        <p:nvGrpSpPr>
          <p:cNvPr id="12" name="Group 12"/>
          <p:cNvGrpSpPr/>
          <p:nvPr/>
        </p:nvGrpSpPr>
        <p:grpSpPr>
          <a:xfrm>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Input Details</a:t>
              </a: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Users are prompted to enter specific flight details, such as flight number, destination, and departure time, ensuring comprehensive information collection for each record.</a:t>
              </a:r>
            </a:p>
          </p:txBody>
        </p:sp>
      </p:grpSp>
      <p:grpSp>
        <p:nvGrpSpPr>
          <p:cNvPr id="15" name="Group 15"/>
          <p:cNvGrpSpPr/>
          <p:nvPr/>
        </p:nvGrpSpPr>
        <p:grpSpPr>
          <a:xfrm>
            <a:off x="12172950" y="5143500"/>
            <a:ext cx="4010025" cy="2959100"/>
            <a:chOff x="0" y="0"/>
            <a:chExt cx="5346700" cy="39454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Confirmation Messages</a:t>
              </a:r>
            </a:p>
          </p:txBody>
        </p:sp>
        <p:sp>
          <p:nvSpPr>
            <p:cNvPr id="17" name="TextBox 17"/>
            <p:cNvSpPr txBox="1"/>
            <p:nvPr/>
          </p:nvSpPr>
          <p:spPr>
            <a:xfrm>
              <a:off x="0" y="1060450"/>
              <a:ext cx="5346700" cy="2885017"/>
            </a:xfrm>
            <a:prstGeom prst="rect">
              <a:avLst/>
            </a:prstGeom>
          </p:spPr>
          <p:txBody>
            <a:bodyPr lIns="0" tIns="0" rIns="0" bIns="0" rtlCol="0" anchor="t">
              <a:spAutoFit/>
            </a:bodyPr>
            <a:lstStyle/>
            <a:p>
              <a:pPr marL="0" lvl="0" indent="0" algn="l">
                <a:lnSpc>
                  <a:spcPts val="2800"/>
                </a:lnSpc>
              </a:pP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Upon successful addition, the system provides </a:t>
              </a:r>
              <a:r>
                <a:rPr lang="en-US" sz="2000" b="1" u="none" strike="noStrike" spc="-30">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confirmation messages</a:t>
              </a: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to the user, enhancing the user experience by indicating that the flight has been recorded successfully.</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grpSp>
        <p:nvGrpSpPr>
          <p:cNvPr id="2" name="Group 2"/>
          <p:cNvGrpSpPr/>
          <p:nvPr/>
        </p:nvGrpSpPr>
        <p:grpSpPr>
          <a:xfrm>
            <a:off x="9296400" y="666750"/>
            <a:ext cx="8324850" cy="6716121"/>
            <a:chOff x="0" y="0"/>
            <a:chExt cx="1253399" cy="1011187"/>
          </a:xfrm>
        </p:grpSpPr>
        <p:sp>
          <p:nvSpPr>
            <p:cNvPr id="3" name="Freeform 3"/>
            <p:cNvSpPr/>
            <p:nvPr/>
          </p:nvSpPr>
          <p:spPr>
            <a:xfrm>
              <a:off x="0" y="0"/>
              <a:ext cx="1253399" cy="1011187"/>
            </a:xfrm>
            <a:custGeom>
              <a:avLst/>
              <a:gdLst/>
              <a:ahLst/>
              <a:cxnLst/>
              <a:rect l="l" t="t" r="r" b="b"/>
              <a:pathLst>
                <a:path w="1253399" h="1011187">
                  <a:moveTo>
                    <a:pt x="18600" y="0"/>
                  </a:moveTo>
                  <a:lnTo>
                    <a:pt x="1234799" y="0"/>
                  </a:lnTo>
                  <a:cubicBezTo>
                    <a:pt x="1239732" y="0"/>
                    <a:pt x="1244463" y="1960"/>
                    <a:pt x="1247951" y="5448"/>
                  </a:cubicBezTo>
                  <a:cubicBezTo>
                    <a:pt x="1251439" y="8936"/>
                    <a:pt x="1253399" y="13667"/>
                    <a:pt x="1253399" y="18600"/>
                  </a:cubicBezTo>
                  <a:lnTo>
                    <a:pt x="1253399" y="992587"/>
                  </a:lnTo>
                  <a:cubicBezTo>
                    <a:pt x="1253399" y="997520"/>
                    <a:pt x="1251439" y="1002251"/>
                    <a:pt x="1247951" y="1005739"/>
                  </a:cubicBezTo>
                  <a:cubicBezTo>
                    <a:pt x="1244463" y="1009227"/>
                    <a:pt x="1239732" y="1011187"/>
                    <a:pt x="1234799" y="1011187"/>
                  </a:cubicBezTo>
                  <a:lnTo>
                    <a:pt x="18600" y="1011187"/>
                  </a:lnTo>
                  <a:cubicBezTo>
                    <a:pt x="13667" y="1011187"/>
                    <a:pt x="8936" y="1009227"/>
                    <a:pt x="5448" y="1005739"/>
                  </a:cubicBezTo>
                  <a:cubicBezTo>
                    <a:pt x="1960" y="1002251"/>
                    <a:pt x="0" y="997520"/>
                    <a:pt x="0" y="992587"/>
                  </a:cubicBezTo>
                  <a:lnTo>
                    <a:pt x="0" y="18600"/>
                  </a:lnTo>
                  <a:cubicBezTo>
                    <a:pt x="0" y="13667"/>
                    <a:pt x="1960" y="8936"/>
                    <a:pt x="5448" y="5448"/>
                  </a:cubicBezTo>
                  <a:cubicBezTo>
                    <a:pt x="8936" y="1960"/>
                    <a:pt x="13667" y="0"/>
                    <a:pt x="18600" y="0"/>
                  </a:cubicBezTo>
                  <a:close/>
                </a:path>
              </a:pathLst>
            </a:custGeom>
            <a:blipFill>
              <a:blip r:embed="rId2"/>
              <a:stretch>
                <a:fillRect l="-109" r="-109"/>
              </a:stretch>
            </a:blipFill>
            <a:ln cap="sq">
              <a:noFill/>
              <a:prstDash val="solid"/>
              <a:miter/>
            </a:ln>
          </p:spPr>
        </p:sp>
      </p:grpSp>
      <p:grpSp>
        <p:nvGrpSpPr>
          <p:cNvPr id="4" name="Group 4"/>
          <p:cNvGrpSpPr/>
          <p:nvPr/>
        </p:nvGrpSpPr>
        <p:grpSpPr>
          <a:xfrm>
            <a:off x="0" y="0"/>
            <a:ext cx="7858125" cy="10287000"/>
            <a:chOff x="0" y="0"/>
            <a:chExt cx="2069630" cy="2709333"/>
          </a:xfrm>
        </p:grpSpPr>
        <p:sp>
          <p:nvSpPr>
            <p:cNvPr id="5" name="Freeform 5"/>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40739E"/>
            </a:solidFill>
            <a:ln cap="sq">
              <a:noFill/>
              <a:prstDash val="solid"/>
              <a:miter/>
            </a:ln>
          </p:spPr>
        </p:sp>
        <p:sp>
          <p:nvSpPr>
            <p:cNvPr id="6" name="TextBox 6"/>
            <p:cNvSpPr txBox="1"/>
            <p:nvPr/>
          </p:nvSpPr>
          <p:spPr>
            <a:xfrm>
              <a:off x="0" y="-57150"/>
              <a:ext cx="2069630" cy="2766483"/>
            </a:xfrm>
            <a:prstGeom prst="rect">
              <a:avLst/>
            </a:prstGeom>
          </p:spPr>
          <p:txBody>
            <a:bodyPr lIns="50800" tIns="50800" rIns="50800" bIns="50800" rtlCol="0" anchor="ctr"/>
            <a:lstStyle/>
            <a:p>
              <a:pPr marL="0" lvl="0" indent="0" algn="ctr">
                <a:lnSpc>
                  <a:spcPts val="3360"/>
                </a:lnSpc>
              </a:pPr>
              <a:endParaRPr/>
            </a:p>
          </p:txBody>
        </p:sp>
      </p:grpSp>
      <p:grpSp>
        <p:nvGrpSpPr>
          <p:cNvPr id="7" name="Group 7"/>
          <p:cNvGrpSpPr/>
          <p:nvPr/>
        </p:nvGrpSpPr>
        <p:grpSpPr>
          <a:xfrm>
            <a:off x="9296400" y="7829550"/>
            <a:ext cx="8324850" cy="907161"/>
            <a:chOff x="0" y="0"/>
            <a:chExt cx="11099800" cy="1209548"/>
          </a:xfrm>
        </p:grpSpPr>
        <p:sp>
          <p:nvSpPr>
            <p:cNvPr id="8" name="TextBox 8"/>
            <p:cNvSpPr txBox="1"/>
            <p:nvPr/>
          </p:nvSpPr>
          <p:spPr>
            <a:xfrm>
              <a:off x="0" y="-9525"/>
              <a:ext cx="110998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Importance of Handling Empty Flight Lists</a:t>
              </a:r>
            </a:p>
          </p:txBody>
        </p:sp>
        <p:sp>
          <p:nvSpPr>
            <p:cNvPr id="9" name="TextBox 9"/>
            <p:cNvSpPr txBox="1"/>
            <p:nvPr/>
          </p:nvSpPr>
          <p:spPr>
            <a:xfrm>
              <a:off x="0" y="779653"/>
              <a:ext cx="11099800" cy="4298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Ensure users receive clear feedback messages</a:t>
              </a:r>
            </a:p>
          </p:txBody>
        </p:sp>
      </p:grpSp>
      <p:sp>
        <p:nvSpPr>
          <p:cNvPr id="10" name="TextBox 10"/>
          <p:cNvSpPr txBox="1"/>
          <p:nvPr/>
        </p:nvSpPr>
        <p:spPr>
          <a:xfrm>
            <a:off x="666750" y="733425"/>
            <a:ext cx="5753100" cy="4492627"/>
          </a:xfrm>
          <a:prstGeom prst="rect">
            <a:avLst/>
          </a:prstGeom>
        </p:spPr>
        <p:txBody>
          <a:bodyPr lIns="0" tIns="0" rIns="0" bIns="0" rtlCol="0" anchor="t">
            <a:spAutoFit/>
          </a:bodyPr>
          <a:lstStyle/>
          <a:p>
            <a:pPr marL="0" lvl="0" indent="0" algn="l">
              <a:lnSpc>
                <a:spcPts val="88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Viewing All Flights: Handle Empty List</a:t>
            </a:r>
          </a:p>
        </p:txBody>
      </p:sp>
      <p:sp>
        <p:nvSpPr>
          <p:cNvPr id="11" name="Freeform 11"/>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a:ln cap="sq">
            <a:noFill/>
            <a:prstDash val="solid"/>
            <a:miter/>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F5F6FA"/>
            </a:solidFill>
            <a:ln w="12700">
              <a:solidFill>
                <a:srgbClr val="000000"/>
              </a:solidFill>
            </a:ln>
          </p:spPr>
        </p:sp>
      </p:grpSp>
      <p:grpSp>
        <p:nvGrpSpPr>
          <p:cNvPr id="4" name="Group 4"/>
          <p:cNvGrpSpPr/>
          <p:nvPr/>
        </p:nvGrpSpPr>
        <p:grpSpPr>
          <a:xfrm>
            <a:off x="666750" y="666750"/>
            <a:ext cx="6545058" cy="8953500"/>
            <a:chOff x="0" y="0"/>
            <a:chExt cx="768828" cy="1051741"/>
          </a:xfrm>
        </p:grpSpPr>
        <p:sp>
          <p:nvSpPr>
            <p:cNvPr id="5" name="Freeform 5"/>
            <p:cNvSpPr/>
            <p:nvPr/>
          </p:nvSpPr>
          <p:spPr>
            <a:xfrm>
              <a:off x="0" y="0"/>
              <a:ext cx="768828" cy="1051741"/>
            </a:xfrm>
            <a:custGeom>
              <a:avLst/>
              <a:gdLst/>
              <a:ahLst/>
              <a:cxnLst/>
              <a:rect l="l" t="t" r="r" b="b"/>
              <a:pathLst>
                <a:path w="768828" h="1051741">
                  <a:moveTo>
                    <a:pt x="53229" y="0"/>
                  </a:moveTo>
                  <a:lnTo>
                    <a:pt x="715599" y="0"/>
                  </a:lnTo>
                  <a:cubicBezTo>
                    <a:pt x="729717" y="0"/>
                    <a:pt x="743256" y="5608"/>
                    <a:pt x="753238" y="15590"/>
                  </a:cubicBezTo>
                  <a:cubicBezTo>
                    <a:pt x="763220" y="25573"/>
                    <a:pt x="768828" y="39112"/>
                    <a:pt x="768828" y="53229"/>
                  </a:cubicBezTo>
                  <a:lnTo>
                    <a:pt x="768828" y="998512"/>
                  </a:lnTo>
                  <a:cubicBezTo>
                    <a:pt x="768828" y="1027909"/>
                    <a:pt x="744997" y="1051741"/>
                    <a:pt x="715599" y="1051741"/>
                  </a:cubicBezTo>
                  <a:lnTo>
                    <a:pt x="53229" y="1051741"/>
                  </a:lnTo>
                  <a:cubicBezTo>
                    <a:pt x="39112" y="1051741"/>
                    <a:pt x="25573" y="1046133"/>
                    <a:pt x="15590" y="1036150"/>
                  </a:cubicBezTo>
                  <a:cubicBezTo>
                    <a:pt x="5608" y="1026168"/>
                    <a:pt x="0" y="1012629"/>
                    <a:pt x="0" y="998512"/>
                  </a:cubicBezTo>
                  <a:lnTo>
                    <a:pt x="0" y="53229"/>
                  </a:lnTo>
                  <a:cubicBezTo>
                    <a:pt x="0" y="23831"/>
                    <a:pt x="23831" y="0"/>
                    <a:pt x="53229" y="0"/>
                  </a:cubicBezTo>
                  <a:close/>
                </a:path>
              </a:pathLst>
            </a:custGeom>
            <a:blipFill>
              <a:blip r:embed="rId2"/>
              <a:stretch>
                <a:fillRect t="-414" b="-414"/>
              </a:stretch>
            </a:blipFill>
          </p:spPr>
        </p:sp>
      </p:grpSp>
      <p:sp>
        <p:nvSpPr>
          <p:cNvPr id="6" name="TextBox 6"/>
          <p:cNvSpPr txBox="1"/>
          <p:nvPr/>
        </p:nvSpPr>
        <p:spPr>
          <a:xfrm>
            <a:off x="9296400" y="733425"/>
            <a:ext cx="8324850" cy="2263775"/>
          </a:xfrm>
          <a:prstGeom prst="rect">
            <a:avLst/>
          </a:prstGeom>
        </p:spPr>
        <p:txBody>
          <a:bodyPr lIns="0" tIns="0" rIns="0" bIns="0" rtlCol="0" anchor="t">
            <a:spAutoFit/>
          </a:bodyPr>
          <a:lstStyle/>
          <a:p>
            <a:pPr marL="0" lvl="0" indent="0" algn="l">
              <a:lnSpc>
                <a:spcPts val="88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Flight Number Search</a:t>
            </a:r>
          </a:p>
        </p:txBody>
      </p:sp>
      <p:sp>
        <p:nvSpPr>
          <p:cNvPr id="7" name="TextBox 7"/>
          <p:cNvSpPr txBox="1"/>
          <p:nvPr/>
        </p:nvSpPr>
        <p:spPr>
          <a:xfrm>
            <a:off x="9296400" y="7883525"/>
            <a:ext cx="8324850" cy="1736725"/>
          </a:xfrm>
          <a:prstGeom prst="rect">
            <a:avLst/>
          </a:prstGeom>
        </p:spPr>
        <p:txBody>
          <a:bodyPr lIns="0" tIns="0" rIns="0" bIns="0" rtlCol="0" anchor="t">
            <a:spAutoFit/>
          </a:bodyPr>
          <a:lstStyle/>
          <a:p>
            <a:pPr marL="0" lvl="0" indent="0" algn="l">
              <a:lnSpc>
                <a:spcPts val="3500"/>
              </a:lnSpc>
              <a:spcBef>
                <a:spcPct val="0"/>
              </a:spcBef>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flight search feature allows users to input a flight number, enabling efficient retrieval of specific flight details. It implements a linear search algorithm, providing immediate feedback on search outcomes.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9</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11942"/>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spcBef>
                  <a:spcPct val="0"/>
                </a:spcBef>
              </a:pPr>
              <a:endParaRPr/>
            </a:p>
          </p:txBody>
        </p:sp>
      </p:grpSp>
      <p:grpSp>
        <p:nvGrpSpPr>
          <p:cNvPr id="6" name="Group 6"/>
          <p:cNvGrpSpPr/>
          <p:nvPr/>
        </p:nvGrpSpPr>
        <p:grpSpPr>
          <a:xfrm>
            <a:off x="1800225" y="1562100"/>
            <a:ext cx="12944475" cy="3581400"/>
            <a:chOff x="0" y="0"/>
            <a:chExt cx="17259300" cy="47752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Exit Options and Error Handling</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Managing User Choices in the System</a:t>
              </a:r>
            </a:p>
          </p:txBody>
        </p:sp>
        <p:sp>
          <p:nvSpPr>
            <p:cNvPr id="9" name="TextBox 9"/>
            <p:cNvSpPr txBox="1"/>
            <p:nvPr/>
          </p:nvSpPr>
          <p:spPr>
            <a:xfrm>
              <a:off x="0" y="3059641"/>
              <a:ext cx="13512134" cy="1715559"/>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program includes a clear exit option, allowing users to terminate the session effectively. Additionally, it handles invalid choices through prompts and guidance, ensuring user-friendly navigation.</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10</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pPr>
              <a:endParaRPr/>
            </a:p>
          </p:txBody>
        </p:sp>
      </p:grpSp>
      <p:grpSp>
        <p:nvGrpSpPr>
          <p:cNvPr id="6" name="Group 6"/>
          <p:cNvGrpSpPr/>
          <p:nvPr/>
        </p:nvGrpSpPr>
        <p:grpSpPr>
          <a:xfrm>
            <a:off x="1800225" y="1562100"/>
            <a:ext cx="12944475" cy="3381459"/>
            <a:chOff x="0" y="0"/>
            <a:chExt cx="17259300" cy="4508612"/>
          </a:xfrm>
        </p:grpSpPr>
        <p:sp>
          <p:nvSpPr>
            <p:cNvPr id="7" name="TextBox 7"/>
            <p:cNvSpPr txBox="1"/>
            <p:nvPr/>
          </p:nvSpPr>
          <p:spPr>
            <a:xfrm>
              <a:off x="0" y="-85725"/>
              <a:ext cx="17259300" cy="34554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Program Flow and Enhancements</a:t>
              </a:r>
            </a:p>
          </p:txBody>
        </p:sp>
        <p:sp>
          <p:nvSpPr>
            <p:cNvPr id="8" name="TextBox 8"/>
            <p:cNvSpPr txBox="1"/>
            <p:nvPr/>
          </p:nvSpPr>
          <p:spPr>
            <a:xfrm>
              <a:off x="0" y="39402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Understanding the Menu Loop Dynamics</a:t>
              </a:r>
            </a:p>
          </p:txBody>
        </p:sp>
      </p:grpSp>
      <p:sp>
        <p:nvSpPr>
          <p:cNvPr id="9" name="Freeform 9"/>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11</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11942"/>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spcBef>
                  <a:spcPct val="0"/>
                </a:spcBef>
              </a:pPr>
              <a:endParaRPr/>
            </a:p>
          </p:txBody>
        </p:sp>
      </p:grpSp>
      <p:grpSp>
        <p:nvGrpSpPr>
          <p:cNvPr id="6" name="Group 6"/>
          <p:cNvGrpSpPr/>
          <p:nvPr/>
        </p:nvGrpSpPr>
        <p:grpSpPr>
          <a:xfrm>
            <a:off x="1800225" y="1562100"/>
            <a:ext cx="12944475" cy="3619500"/>
            <a:chOff x="0" y="0"/>
            <a:chExt cx="17259300" cy="48260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Limitations and Enhancements</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Addressing Constraints and Future Options</a:t>
              </a:r>
            </a:p>
          </p:txBody>
        </p:sp>
        <p:sp>
          <p:nvSpPr>
            <p:cNvPr id="9" name="TextBox 9"/>
            <p:cNvSpPr txBox="1"/>
            <p:nvPr/>
          </p:nvSpPr>
          <p:spPr>
            <a:xfrm>
              <a:off x="0" y="3059641"/>
              <a:ext cx="13512134" cy="1766359"/>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current system's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fixed array size</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limits scalability; introducing file I/O for persistent storage and additional features like sorting and a GUI could significantly enhance functionality and user experience.</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4" name="TextBox 4"/>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pPr>
              <a:endParaRPr/>
            </a:p>
          </p:txBody>
        </p:sp>
      </p:grpSp>
      <p:grpSp>
        <p:nvGrpSpPr>
          <p:cNvPr id="5" name="Group 5"/>
          <p:cNvGrpSpPr/>
          <p:nvPr/>
        </p:nvGrpSpPr>
        <p:grpSpPr>
          <a:xfrm>
            <a:off x="2105025" y="1562100"/>
            <a:ext cx="9763125" cy="6280150"/>
            <a:chOff x="0" y="0"/>
            <a:chExt cx="13017500" cy="8373533"/>
          </a:xfrm>
        </p:grpSpPr>
        <p:sp>
          <p:nvSpPr>
            <p:cNvPr id="6" name="TextBox 6"/>
            <p:cNvSpPr txBox="1"/>
            <p:nvPr/>
          </p:nvSpPr>
          <p:spPr>
            <a:xfrm>
              <a:off x="0" y="1196975"/>
              <a:ext cx="13017500" cy="7176558"/>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Airplane Management System can be significantly improved with several added features:</a:t>
              </a:r>
            </a:p>
            <a:p>
              <a:pPr marL="539750" lvl="1" indent="-269875" algn="l">
                <a:lnSpc>
                  <a:spcPts val="3500"/>
                </a:lnSpc>
                <a:buFont typeface="Arial" panose="020B0604020202020204"/>
                <a:buChar char="•"/>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Sorting Flights</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Implement functionality to sort flights by departure time or destination for easier viewing.</a:t>
              </a:r>
            </a:p>
            <a:p>
              <a:pPr marL="539750" lvl="1" indent="-269875" algn="l">
                <a:lnSpc>
                  <a:spcPts val="3500"/>
                </a:lnSpc>
                <a:buFont typeface="Arial" panose="020B0604020202020204"/>
                <a:buChar char="•"/>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Editing Records</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Allow users to modify existing flight details, enhancing data accuracy and user interactivity.</a:t>
              </a:r>
            </a:p>
            <a:p>
              <a:pPr marL="539750" lvl="1" indent="-269875" algn="l">
                <a:lnSpc>
                  <a:spcPts val="3500"/>
                </a:lnSpc>
                <a:buFont typeface="Arial" panose="020B0604020202020204"/>
                <a:buChar char="•"/>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Deleting Flights</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Introduce an option to delete flights, providing flexibility in managing flight data.</a:t>
              </a:r>
            </a:p>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Additionally, developing a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Graphical User Interface (GUI)</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would make the system more user-friendly and visually appealing, facilitating better user interaction and engagement while reinforcing core programming concepts.</a:t>
              </a:r>
            </a:p>
          </p:txBody>
        </p:sp>
        <p:sp>
          <p:nvSpPr>
            <p:cNvPr id="7" name="TextBox 7"/>
            <p:cNvSpPr txBox="1"/>
            <p:nvPr/>
          </p:nvSpPr>
          <p:spPr>
            <a:xfrm>
              <a:off x="0" y="-9525"/>
              <a:ext cx="130175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Suggested Enhancements for User Experience</a:t>
              </a:r>
            </a:p>
          </p:txBody>
        </p:sp>
      </p:grpSp>
      <p:sp>
        <p:nvSpPr>
          <p:cNvPr id="8" name="Freeform 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273C75"/>
            </a:solidFill>
          </p:spPr>
        </p:sp>
        <p:sp>
          <p:nvSpPr>
            <p:cNvPr id="4" name="TextBox 4"/>
            <p:cNvSpPr txBox="1"/>
            <p:nvPr/>
          </p:nvSpPr>
          <p:spPr>
            <a:xfrm>
              <a:off x="0" y="-57150"/>
              <a:ext cx="2368158" cy="940192"/>
            </a:xfrm>
            <a:prstGeom prst="rect">
              <a:avLst/>
            </a:prstGeom>
          </p:spPr>
          <p:txBody>
            <a:bodyPr lIns="50800" tIns="50800" rIns="50800" bIns="50800" rtlCol="0" anchor="ctr"/>
            <a:lstStyle/>
            <a:p>
              <a:pPr marL="0" lvl="0" indent="0" algn="ctr">
                <a:lnSpc>
                  <a:spcPts val="2800"/>
                </a:lnSpc>
              </a:pPr>
              <a:endParaRPr/>
            </a:p>
          </p:txBody>
        </p:sp>
      </p:grpSp>
      <p:grpSp>
        <p:nvGrpSpPr>
          <p:cNvPr id="5" name="Group 5"/>
          <p:cNvGrpSpPr/>
          <p:nvPr/>
        </p:nvGrpSpPr>
        <p:grpSpPr>
          <a:xfrm>
            <a:off x="8991600" y="0"/>
            <a:ext cx="9296400" cy="10287000"/>
            <a:chOff x="0" y="0"/>
            <a:chExt cx="1220873" cy="1350966"/>
          </a:xfrm>
        </p:grpSpPr>
        <p:sp>
          <p:nvSpPr>
            <p:cNvPr id="6" name="Freeform 6"/>
            <p:cNvSpPr/>
            <p:nvPr/>
          </p:nvSpPr>
          <p:spPr>
            <a:xfrm>
              <a:off x="0" y="0"/>
              <a:ext cx="1220873" cy="1350966"/>
            </a:xfrm>
            <a:custGeom>
              <a:avLst/>
              <a:gdLst/>
              <a:ahLst/>
              <a:cxnLst/>
              <a:rect l="l" t="t" r="r" b="b"/>
              <a:pathLst>
                <a:path w="1220873" h="1350966">
                  <a:moveTo>
                    <a:pt x="0" y="0"/>
                  </a:moveTo>
                  <a:lnTo>
                    <a:pt x="1220873" y="0"/>
                  </a:lnTo>
                  <a:lnTo>
                    <a:pt x="1220873" y="1350966"/>
                  </a:lnTo>
                  <a:lnTo>
                    <a:pt x="0" y="1350966"/>
                  </a:lnTo>
                  <a:close/>
                </a:path>
              </a:pathLst>
            </a:custGeom>
            <a:blipFill>
              <a:blip r:embed="rId2"/>
              <a:stretch>
                <a:fillRect t="-66" b="-66"/>
              </a:stretch>
            </a:blipFill>
          </p:spPr>
        </p:sp>
      </p:grpSp>
      <p:sp>
        <p:nvSpPr>
          <p:cNvPr id="7" name="TextBox 7"/>
          <p:cNvSpPr txBox="1"/>
          <p:nvPr/>
        </p:nvSpPr>
        <p:spPr>
          <a:xfrm>
            <a:off x="666750" y="809625"/>
            <a:ext cx="6886575" cy="2079626"/>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Project Recap and Next Steps</a:t>
            </a:r>
          </a:p>
        </p:txBody>
      </p:sp>
      <p:sp>
        <p:nvSpPr>
          <p:cNvPr id="8" name="TextBox 8"/>
          <p:cNvSpPr txBox="1"/>
          <p:nvPr/>
        </p:nvSpPr>
        <p:spPr>
          <a:xfrm>
            <a:off x="666750" y="7369175"/>
            <a:ext cx="6886575" cy="2251075"/>
          </a:xfrm>
          <a:prstGeom prst="rect">
            <a:avLst/>
          </a:prstGeom>
        </p:spPr>
        <p:txBody>
          <a:bodyPr lIns="0" tIns="0" rIns="0" bIns="0" rtlCol="0" anchor="t">
            <a:spAutoFit/>
          </a:bodyPr>
          <a:lstStyle/>
          <a:p>
            <a:pPr marL="0" lvl="0" indent="0" algn="l">
              <a:lnSpc>
                <a:spcPts val="3500"/>
              </a:lnSpc>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This project highlights </a:t>
            </a:r>
            <a:r>
              <a:rPr lang="en-US" sz="2500" b="1" u="none" strike="noStrike"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core programming concepts</a:t>
            </a: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through a flight management system, emphasizing areas for future growth, such as persistence, user interface, and added functionalities to enhance learning and usability.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F5F6FA"/>
            </a:solidFill>
            <a:ln w="12700">
              <a:solidFill>
                <a:srgbClr val="000000"/>
              </a:solidFill>
            </a:ln>
          </p:spPr>
        </p:sp>
      </p:grpSp>
      <p:grpSp>
        <p:nvGrpSpPr>
          <p:cNvPr id="4" name="Group 4"/>
          <p:cNvGrpSpPr/>
          <p:nvPr/>
        </p:nvGrpSpPr>
        <p:grpSpPr>
          <a:xfrm>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7" name="TextBox 7"/>
          <p:cNvSpPr txBox="1"/>
          <p:nvPr/>
        </p:nvSpPr>
        <p:spPr>
          <a:xfrm>
            <a:off x="9303759" y="942975"/>
            <a:ext cx="8317491" cy="1999134"/>
          </a:xfrm>
          <a:prstGeom prst="rect">
            <a:avLst/>
          </a:prstGeom>
        </p:spPr>
        <p:txBody>
          <a:bodyPr lIns="0" tIns="0" rIns="0" bIns="0" rtlCol="0" anchor="t">
            <a:spAutoFit/>
          </a:bodyPr>
          <a:lstStyle/>
          <a:p>
            <a:pPr marL="0" lvl="0" indent="0" algn="l">
              <a:lnSpc>
                <a:spcPts val="14955"/>
              </a:lnSpc>
            </a:pPr>
            <a:r>
              <a:rPr lang="en-US" sz="14955" spc="-523">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Thank You</a:t>
            </a:r>
          </a:p>
        </p:txBody>
      </p:sp>
      <p:sp>
        <p:nvSpPr>
          <p:cNvPr id="8" name="Freeform 8"/>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608</Words>
  <Application>Microsoft Office PowerPoint</Application>
  <PresentationFormat>Custom</PresentationFormat>
  <Paragraphs>51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Times New Roman</vt:lpstr>
      <vt:lpstr>Arial</vt:lpstr>
      <vt:lpstr>Helvetica World Bold</vt:lpstr>
      <vt:lpstr>Calibri</vt:lpstr>
      <vt:lpstr>Helvetica World</vt:lpstr>
      <vt:lpstr>Georgia Pro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Airplane Management System in C</dc:title>
  <dc:creator/>
  <dc:description>Presentation - Airplane Management System in C</dc:description>
  <cp:lastModifiedBy>gamer</cp:lastModifiedBy>
  <cp:revision>4</cp:revision>
  <dcterms:created xsi:type="dcterms:W3CDTF">2006-08-16T00:00:00Z</dcterms:created>
  <dcterms:modified xsi:type="dcterms:W3CDTF">2025-11-13T16:28:48Z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D44E244067684D9796CE752438BC04AE_13</vt:lpwstr>
  </property>
  <property fmtid="{D5CDD505-2E9C-101B-9397-08002B2CF9AE}" pid="3" name="KSOProductBuildVer">
    <vt:lpwstr>1033-12.2.0.23155</vt:lpwstr>
  </property>
</Properties>
</file>